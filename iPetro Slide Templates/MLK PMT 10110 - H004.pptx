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0" r:id="rId5"/>
  </p:sldMasterIdLst>
  <p:notesMasterIdLst>
    <p:notesMasterId r:id="rId6"/>
  </p:notesMasterIdLst>
  <p:sldIdLst>
    <p:sldId id="256" r:id="rId7"/>
  </p:sldIdLst>
  <p:sldSz cy="6858000" cx="9906000"/>
  <p:notesSz cx="10020300" cy="6888150"/>
  <p:embeddedFontLst>
    <p:embeddedFont>
      <p:font typeface="Federo"/>
      <p:regular r:id="rId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>
        <p15:guide id="1" orient="horz" pos="2170">
          <p15:clr>
            <a:srgbClr val="000000"/>
          </p15:clr>
        </p15:guide>
        <p15:guide id="2" pos="3156">
          <p15:clr>
            <a:srgbClr val="000000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A1F6E24-249B-4603-B4D0-A91415978A59}">
  <a:tblStyle styleId="{3A1F6E24-249B-4603-B4D0-A91415978A59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F21BF547-00CE-4CEB-BD99-01B0B56F8091}" styleName="Table_1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3F9FA"/>
          </a:solidFill>
        </a:fill>
      </a:tcStyle>
    </a:wholeTbl>
    <a:band1H>
      <a:tcTxStyle b="off" i="off"/>
      <a:tcStyle>
        <a:fill>
          <a:solidFill>
            <a:srgbClr val="E7F3F4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E7F3F4"/>
          </a:solidFill>
        </a:fill>
      </a:tcStyle>
    </a:band1V>
    <a:band2V>
      <a:tcTxStyle b="off" i="off"/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12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170" orient="horz"/>
        <p:guide pos="3156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font" Target="fonts/Federo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1" y="1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anchorCtr="0" anchor="t" bIns="45975" lIns="91975" spcFirstLastPara="1" rIns="91975" wrap="square" tIns="459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5678171" y="1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anchorCtr="0" anchor="t" bIns="45975" lIns="91975" spcFirstLastPara="1" rIns="91975" wrap="square" tIns="45975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141663" y="515938"/>
            <a:ext cx="3732212" cy="2584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1336041" y="3272016"/>
            <a:ext cx="7348220" cy="3099398"/>
          </a:xfrm>
          <a:prstGeom prst="rect">
            <a:avLst/>
          </a:prstGeom>
          <a:noFill/>
          <a:ln>
            <a:noFill/>
          </a:ln>
        </p:spPr>
        <p:txBody>
          <a:bodyPr anchorCtr="0" anchor="t" bIns="45975" lIns="91975" spcFirstLastPara="1" rIns="91975" wrap="square" tIns="4597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1" y="6544030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anchorCtr="0" anchor="b" bIns="45975" lIns="91975" spcFirstLastPara="1" rIns="91975" wrap="square" tIns="459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5678171" y="6544030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anchorCtr="0" anchor="b" bIns="45975" lIns="91975" spcFirstLastPara="1" rIns="91975" wrap="square" tIns="459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MY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:notes"/>
          <p:cNvSpPr txBox="1"/>
          <p:nvPr>
            <p:ph idx="1" type="body"/>
          </p:nvPr>
        </p:nvSpPr>
        <p:spPr>
          <a:xfrm>
            <a:off x="1336041" y="3272016"/>
            <a:ext cx="7348220" cy="3099398"/>
          </a:xfrm>
          <a:prstGeom prst="rect">
            <a:avLst/>
          </a:prstGeom>
          <a:noFill/>
          <a:ln>
            <a:noFill/>
          </a:ln>
        </p:spPr>
        <p:txBody>
          <a:bodyPr anchorCtr="0" anchor="t" bIns="45975" lIns="91975" spcFirstLastPara="1" rIns="91975" wrap="square" tIns="459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" name="Google Shape;47;p10:notes"/>
          <p:cNvSpPr/>
          <p:nvPr>
            <p:ph idx="2" type="sldImg"/>
          </p:nvPr>
        </p:nvSpPr>
        <p:spPr>
          <a:xfrm>
            <a:off x="3141663" y="515938"/>
            <a:ext cx="3732212" cy="2584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Blank" type="blank">
  <p:cSld name="BLANK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/>
          <p:nvPr/>
        </p:nvSpPr>
        <p:spPr>
          <a:xfrm>
            <a:off x="438727" y="226060"/>
            <a:ext cx="9080500" cy="6555737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" name="Google Shape;11;p1"/>
          <p:cNvSpPr txBox="1"/>
          <p:nvPr/>
        </p:nvSpPr>
        <p:spPr>
          <a:xfrm>
            <a:off x="432127" y="-39406"/>
            <a:ext cx="9093697" cy="3067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MY" sz="1400" u="none" cap="none" strike="noStrike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INSPECTION PLAN (ON-STREAM)</a:t>
            </a:r>
            <a:endParaRPr b="1" i="0" sz="1400" u="none" cap="none" strike="noStrike">
              <a:solidFill>
                <a:schemeClr val="dk1"/>
              </a:solidFill>
              <a:latin typeface="Federo"/>
              <a:ea typeface="Federo"/>
              <a:cs typeface="Federo"/>
              <a:sym typeface="Federo"/>
            </a:endParaRPr>
          </a:p>
        </p:txBody>
      </p:sp>
      <p:sp>
        <p:nvSpPr>
          <p:cNvPr id="12" name="Google Shape;12;p1"/>
          <p:cNvSpPr/>
          <p:nvPr/>
        </p:nvSpPr>
        <p:spPr>
          <a:xfrm>
            <a:off x="1996345" y="483788"/>
            <a:ext cx="921326" cy="2417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MY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Description :</a:t>
            </a:r>
            <a:endParaRPr b="1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1"/>
          <p:cNvSpPr/>
          <p:nvPr/>
        </p:nvSpPr>
        <p:spPr>
          <a:xfrm>
            <a:off x="6586333" y="525643"/>
            <a:ext cx="751364" cy="1693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MY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PMT. No :</a:t>
            </a:r>
            <a:endParaRPr b="1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1"/>
          <p:cNvSpPr/>
          <p:nvPr/>
        </p:nvSpPr>
        <p:spPr>
          <a:xfrm>
            <a:off x="3467200" y="1600200"/>
            <a:ext cx="176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1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" name="Google Shape;15;p1"/>
          <p:cNvCxnSpPr/>
          <p:nvPr/>
        </p:nvCxnSpPr>
        <p:spPr>
          <a:xfrm>
            <a:off x="2057400" y="470015"/>
            <a:ext cx="6917039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" name="Google Shape;16;p1"/>
          <p:cNvSpPr/>
          <p:nvPr/>
        </p:nvSpPr>
        <p:spPr>
          <a:xfrm>
            <a:off x="2162887" y="261378"/>
            <a:ext cx="4368133" cy="2106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MY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GENERAL INFORMATION</a:t>
            </a:r>
            <a:endParaRPr b="1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4840768" y="517268"/>
            <a:ext cx="728755" cy="1826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MY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Tag. No :</a:t>
            </a:r>
            <a:endParaRPr b="1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" name="Google Shape;18;p1"/>
          <p:cNvCxnSpPr/>
          <p:nvPr/>
        </p:nvCxnSpPr>
        <p:spPr>
          <a:xfrm>
            <a:off x="6624393" y="218985"/>
            <a:ext cx="0" cy="51859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" name="Google Shape;19;p1"/>
          <p:cNvCxnSpPr/>
          <p:nvPr/>
        </p:nvCxnSpPr>
        <p:spPr>
          <a:xfrm>
            <a:off x="7467600" y="234978"/>
            <a:ext cx="0" cy="48952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0" name="Google Shape;20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9012839" y="256494"/>
            <a:ext cx="473325" cy="39611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" name="Google Shape;21;p1"/>
          <p:cNvCxnSpPr/>
          <p:nvPr/>
        </p:nvCxnSpPr>
        <p:spPr>
          <a:xfrm>
            <a:off x="438539" y="6594756"/>
            <a:ext cx="9071419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" name="Google Shape;22;p1"/>
          <p:cNvCxnSpPr/>
          <p:nvPr/>
        </p:nvCxnSpPr>
        <p:spPr>
          <a:xfrm>
            <a:off x="444807" y="6396176"/>
            <a:ext cx="9071419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" name="Google Shape;23;p1"/>
          <p:cNvCxnSpPr/>
          <p:nvPr/>
        </p:nvCxnSpPr>
        <p:spPr>
          <a:xfrm>
            <a:off x="8466899" y="491196"/>
            <a:ext cx="0" cy="24295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" name="Google Shape;24;p1"/>
          <p:cNvSpPr/>
          <p:nvPr/>
        </p:nvSpPr>
        <p:spPr>
          <a:xfrm>
            <a:off x="8388193" y="519991"/>
            <a:ext cx="649340" cy="1949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MY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Rev 00</a:t>
            </a:r>
            <a:endParaRPr b="1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" name="Google Shape;25;p1"/>
          <p:cNvCxnSpPr/>
          <p:nvPr/>
        </p:nvCxnSpPr>
        <p:spPr>
          <a:xfrm>
            <a:off x="1447800" y="6386940"/>
            <a:ext cx="0" cy="37663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" name="Google Shape;26;p1"/>
          <p:cNvSpPr/>
          <p:nvPr/>
        </p:nvSpPr>
        <p:spPr>
          <a:xfrm>
            <a:off x="463280" y="6376509"/>
            <a:ext cx="921326" cy="2417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MY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Prepared by </a:t>
            </a:r>
            <a:endParaRPr b="1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470785" y="6590732"/>
            <a:ext cx="932294" cy="207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MY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Date  </a:t>
            </a:r>
            <a:endParaRPr b="1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" name="Google Shape;28;p1"/>
          <p:cNvCxnSpPr/>
          <p:nvPr/>
        </p:nvCxnSpPr>
        <p:spPr>
          <a:xfrm>
            <a:off x="3200400" y="6396176"/>
            <a:ext cx="0" cy="37663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" name="Google Shape;29;p1"/>
          <p:cNvSpPr/>
          <p:nvPr/>
        </p:nvSpPr>
        <p:spPr>
          <a:xfrm>
            <a:off x="3175000" y="6388152"/>
            <a:ext cx="1586344" cy="20891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MY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Review and Approved by </a:t>
            </a:r>
            <a:endParaRPr b="1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3426142" y="6610646"/>
            <a:ext cx="932294" cy="207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MY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Date  </a:t>
            </a:r>
            <a:endParaRPr b="1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" name="Google Shape;31;p1"/>
          <p:cNvCxnSpPr/>
          <p:nvPr/>
        </p:nvCxnSpPr>
        <p:spPr>
          <a:xfrm>
            <a:off x="4724400" y="6381776"/>
            <a:ext cx="0" cy="37663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" name="Google Shape;32;p1"/>
          <p:cNvSpPr/>
          <p:nvPr/>
        </p:nvSpPr>
        <p:spPr>
          <a:xfrm>
            <a:off x="6105236" y="6429328"/>
            <a:ext cx="1985820" cy="1375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MY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Acknowledge and Acc. by </a:t>
            </a:r>
            <a:endParaRPr b="1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" name="Google Shape;33;p1"/>
          <p:cNvCxnSpPr/>
          <p:nvPr/>
        </p:nvCxnSpPr>
        <p:spPr>
          <a:xfrm>
            <a:off x="6324600" y="6385745"/>
            <a:ext cx="0" cy="40312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" name="Google Shape;34;p1"/>
          <p:cNvCxnSpPr/>
          <p:nvPr/>
        </p:nvCxnSpPr>
        <p:spPr>
          <a:xfrm>
            <a:off x="7848600" y="6383148"/>
            <a:ext cx="0" cy="40312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" name="Google Shape;35;p1"/>
          <p:cNvSpPr/>
          <p:nvPr/>
        </p:nvSpPr>
        <p:spPr>
          <a:xfrm>
            <a:off x="6631999" y="6607572"/>
            <a:ext cx="932294" cy="207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MY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Date  </a:t>
            </a:r>
            <a:endParaRPr b="1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" name="Google Shape;36;p1"/>
          <p:cNvCxnSpPr/>
          <p:nvPr/>
        </p:nvCxnSpPr>
        <p:spPr>
          <a:xfrm>
            <a:off x="444345" y="733734"/>
            <a:ext cx="9071419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" name="Google Shape;37;p1"/>
          <p:cNvCxnSpPr/>
          <p:nvPr/>
        </p:nvCxnSpPr>
        <p:spPr>
          <a:xfrm>
            <a:off x="5440680" y="473132"/>
            <a:ext cx="0" cy="25504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" name="Google Shape;38;p1"/>
          <p:cNvCxnSpPr/>
          <p:nvPr/>
        </p:nvCxnSpPr>
        <p:spPr>
          <a:xfrm>
            <a:off x="4907280" y="472440"/>
            <a:ext cx="0" cy="25504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" name="Google Shape;39;p1"/>
          <p:cNvCxnSpPr/>
          <p:nvPr/>
        </p:nvCxnSpPr>
        <p:spPr>
          <a:xfrm>
            <a:off x="2057400" y="218304"/>
            <a:ext cx="0" cy="50827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" name="Google Shape;40;p1"/>
          <p:cNvCxnSpPr/>
          <p:nvPr/>
        </p:nvCxnSpPr>
        <p:spPr>
          <a:xfrm>
            <a:off x="8975997" y="218304"/>
            <a:ext cx="0" cy="50827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" name="Google Shape;41;p1"/>
          <p:cNvCxnSpPr/>
          <p:nvPr/>
        </p:nvCxnSpPr>
        <p:spPr>
          <a:xfrm>
            <a:off x="2917671" y="478692"/>
            <a:ext cx="0" cy="25504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1"/>
          <p:cNvSpPr/>
          <p:nvPr/>
        </p:nvSpPr>
        <p:spPr>
          <a:xfrm>
            <a:off x="6567861" y="272129"/>
            <a:ext cx="977960" cy="1422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MY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PLANT UNIT:</a:t>
            </a:r>
            <a:endParaRPr b="1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" name="Google Shape;49;p4"/>
          <p:cNvGraphicFramePr/>
          <p:nvPr/>
        </p:nvGraphicFramePr>
        <p:xfrm>
          <a:off x="475862" y="78381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{3A1F6E24-249B-4603-B4D0-A91415978A59}</a:tableStyleId>
              </a:tblPr>
              <a:tblGrid>
                <a:gridCol w="1200550"/>
                <a:gridCol w="827900"/>
                <a:gridCol w="1000900"/>
                <a:gridCol w="572225"/>
                <a:gridCol w="628175"/>
                <a:gridCol w="476000"/>
                <a:gridCol w="756725"/>
                <a:gridCol w="485275"/>
                <a:gridCol w="597575"/>
                <a:gridCol w="789325"/>
                <a:gridCol w="1675625"/>
              </a:tblGrid>
              <a:tr h="194250"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FLUID</a:t>
                      </a:r>
                      <a:endParaRPr b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 u="none" cap="none" strike="noStrike">
                          <a:solidFill>
                            <a:schemeClr val="dk1"/>
                          </a:solidFill>
                        </a:rPr>
                        <a:t>                                         </a:t>
                      </a:r>
                      <a:endParaRPr b="0" sz="8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COMPONENT</a:t>
                      </a:r>
                      <a:endParaRPr b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DESIGN CODE</a:t>
                      </a:r>
                      <a:endParaRPr b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 cap="none" strike="noStrike"/>
                        <a:t>                 MATERIAL </a:t>
                      </a:r>
                      <a:endParaRPr sz="800" u="none" cap="none" strike="noStrike"/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hMerge="1"/>
                <a:tc hMerge="1"/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INSULATED</a:t>
                      </a:r>
                      <a:endParaRPr b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(Y/N)</a:t>
                      </a:r>
                      <a:endParaRPr b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 u="none" cap="none" strike="noStrike">
                          <a:solidFill>
                            <a:schemeClr val="dk1"/>
                          </a:solidFill>
                        </a:rPr>
                        <a:t>OP. PARAMETER</a:t>
                      </a:r>
                      <a:endParaRPr b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hMerge="1"/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CURRENT RISK RATING</a:t>
                      </a:r>
                      <a:endParaRPr b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4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Corrosion Group : </a:t>
                      </a:r>
                      <a:endParaRPr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sng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 Susceptible:</a:t>
                      </a:r>
                      <a:endParaRPr sz="800" u="sng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 cap="none" strike="noStrik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Shell (Tube Side) </a:t>
                      </a:r>
                      <a:endParaRPr sz="800" u="none" cap="none" strike="noStrik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sng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 cap="none" strike="noStrik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Channel Head (Tube Side) </a:t>
                      </a:r>
                      <a:endParaRPr sz="800" u="none" cap="none" strike="noStrik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Cooling Water Corrosion</a:t>
                      </a:r>
                      <a:endParaRPr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solidFill>
                          <a:srgbClr val="7F7F7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 cap="none" strike="noStrik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</a:t>
                      </a:r>
                      <a:endParaRPr sz="800" u="none" cap="none" strike="noStrik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99"/>
                    </a:solidFill>
                  </a:tcPr>
                </a:tc>
              </a:tr>
              <a:tr h="333000">
                <a:tc vMerge="1"/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 b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SPEC</a:t>
                      </a:r>
                      <a:endParaRPr b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</a:t>
                      </a:r>
                      <a:endParaRPr b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b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(֯C)</a:t>
                      </a:r>
                      <a:endParaRPr b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 b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(Mpa)</a:t>
                      </a:r>
                      <a:endParaRPr b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vMerge="1"/>
                <a:tc vMerge="1"/>
              </a:tr>
              <a:tr h="322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Channel 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(Tube Side)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ASME VII DIV 1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SS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LOW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50"/>
                    </a:solidFill>
                  </a:tcPr>
                </a:tc>
                <a:tc vMerge="1"/>
              </a:tr>
              <a:tr h="322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Shell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ASME VIII DIV 1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SS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  <a:tc vMerge="1"/>
              </a:tr>
            </a:tbl>
          </a:graphicData>
        </a:graphic>
      </p:graphicFrame>
      <p:graphicFrame>
        <p:nvGraphicFramePr>
          <p:cNvPr id="50" name="Google Shape;50;p4"/>
          <p:cNvGraphicFramePr/>
          <p:nvPr/>
        </p:nvGraphicFramePr>
        <p:xfrm>
          <a:off x="475862" y="267159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{F21BF547-00CE-4CEB-BD99-01B0B56F8091}</a:tableStyleId>
              </a:tblPr>
              <a:tblGrid>
                <a:gridCol w="1270900"/>
                <a:gridCol w="1815675"/>
                <a:gridCol w="1390550"/>
              </a:tblGrid>
              <a:tr h="406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METHOD</a:t>
                      </a:r>
                      <a:endParaRPr b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COVERAGE</a:t>
                      </a:r>
                      <a:endParaRPr b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</a:t>
                      </a:r>
                      <a:endParaRPr b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</a:tr>
              <a:tr h="406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UTTM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100% of TML Location – Refer TML as per Attachment 1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b="0" lang="en-MY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b="0" lang="en-MY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Cooling Water Corrosion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6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VISUAL INSPECTION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100% external visual inspection 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 Ref: 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1. General VI. Ext Inspection Checklist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51" name="Google Shape;5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44858" y="2379024"/>
            <a:ext cx="1501270" cy="39663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4_Summary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